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8"/>
  </p:notesMasterIdLst>
  <p:sldIdLst>
    <p:sldId id="256" r:id="rId2"/>
    <p:sldId id="257" r:id="rId3"/>
    <p:sldId id="258" r:id="rId4"/>
    <p:sldId id="259" r:id="rId5"/>
    <p:sldId id="260" r:id="rId6"/>
    <p:sldId id="261" r:id="rId7"/>
  </p:sldIdLst>
  <p:sldSz cx="15047913" cy="2152808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3939"/>
    <a:srgbClr val="10383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001" autoAdjust="0"/>
    <p:restoredTop sz="94660"/>
  </p:normalViewPr>
  <p:slideViewPr>
    <p:cSldViewPr snapToGrid="0">
      <p:cViewPr varScale="1">
        <p:scale>
          <a:sx n="34" d="100"/>
          <a:sy n="34" d="100"/>
        </p:scale>
        <p:origin x="3708"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212577-5AFE-4AF3-A1FE-BBE6732AAC64}" type="datetimeFigureOut">
              <a:rPr kumimoji="1" lang="ja-JP" altLang="en-US" smtClean="0"/>
              <a:t>2025/9/1</a:t>
            </a:fld>
            <a:endParaRPr kumimoji="1" lang="ja-JP" altLang="en-US"/>
          </a:p>
        </p:txBody>
      </p:sp>
      <p:sp>
        <p:nvSpPr>
          <p:cNvPr id="4" name="スライド イメージ プレースホルダー 3"/>
          <p:cNvSpPr>
            <a:spLocks noGrp="1" noRot="1" noChangeAspect="1"/>
          </p:cNvSpPr>
          <p:nvPr>
            <p:ph type="sldImg" idx="2"/>
          </p:nvPr>
        </p:nvSpPr>
        <p:spPr>
          <a:xfrm>
            <a:off x="2351088" y="1143000"/>
            <a:ext cx="2155825"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5729F-B6DD-422A-A755-707D02E029C6}" type="slidenum">
              <a:rPr kumimoji="1" lang="ja-JP" altLang="en-US" smtClean="0"/>
              <a:t>‹#›</a:t>
            </a:fld>
            <a:endParaRPr kumimoji="1" lang="ja-JP" altLang="en-US"/>
          </a:p>
        </p:txBody>
      </p:sp>
    </p:spTree>
    <p:extLst>
      <p:ext uri="{BB962C8B-B14F-4D97-AF65-F5344CB8AC3E}">
        <p14:creationId xmlns:p14="http://schemas.microsoft.com/office/powerpoint/2010/main" val="28093817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3375729F-B6DD-422A-A755-707D02E029C6}" type="slidenum">
              <a:rPr kumimoji="1" lang="ja-JP" altLang="en-US" smtClean="0"/>
              <a:t>1</a:t>
            </a:fld>
            <a:endParaRPr kumimoji="1" lang="ja-JP" altLang="en-US"/>
          </a:p>
        </p:txBody>
      </p:sp>
    </p:spTree>
    <p:extLst>
      <p:ext uri="{BB962C8B-B14F-4D97-AF65-F5344CB8AC3E}">
        <p14:creationId xmlns:p14="http://schemas.microsoft.com/office/powerpoint/2010/main" val="3114457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128594" y="3523233"/>
            <a:ext cx="12790726" cy="7494964"/>
          </a:xfrm>
        </p:spPr>
        <p:txBody>
          <a:bodyPr anchor="b"/>
          <a:lstStyle>
            <a:lvl1pPr algn="ctr">
              <a:defRPr sz="9874"/>
            </a:lvl1pPr>
          </a:lstStyle>
          <a:p>
            <a:r>
              <a:rPr lang="ja-JP" altLang="en-US"/>
              <a:t>マスター タイトルの書式設定</a:t>
            </a:r>
            <a:endParaRPr lang="en-US" dirty="0"/>
          </a:p>
        </p:txBody>
      </p:sp>
      <p:sp>
        <p:nvSpPr>
          <p:cNvPr id="3" name="Subtitle 2"/>
          <p:cNvSpPr>
            <a:spLocks noGrp="1"/>
          </p:cNvSpPr>
          <p:nvPr>
            <p:ph type="subTitle" idx="1"/>
          </p:nvPr>
        </p:nvSpPr>
        <p:spPr>
          <a:xfrm>
            <a:off x="1880989" y="11307231"/>
            <a:ext cx="11285935" cy="5197636"/>
          </a:xfrm>
        </p:spPr>
        <p:txBody>
          <a:bodyPr/>
          <a:lstStyle>
            <a:lvl1pPr marL="0" indent="0" algn="ctr">
              <a:buNone/>
              <a:defRPr sz="3950"/>
            </a:lvl1pPr>
            <a:lvl2pPr marL="752414" indent="0" algn="ctr">
              <a:buNone/>
              <a:defRPr sz="3291"/>
            </a:lvl2pPr>
            <a:lvl3pPr marL="1504828" indent="0" algn="ctr">
              <a:buNone/>
              <a:defRPr sz="2962"/>
            </a:lvl3pPr>
            <a:lvl4pPr marL="2257242" indent="0" algn="ctr">
              <a:buNone/>
              <a:defRPr sz="2633"/>
            </a:lvl4pPr>
            <a:lvl5pPr marL="3009656" indent="0" algn="ctr">
              <a:buNone/>
              <a:defRPr sz="2633"/>
            </a:lvl5pPr>
            <a:lvl6pPr marL="3762070" indent="0" algn="ctr">
              <a:buNone/>
              <a:defRPr sz="2633"/>
            </a:lvl6pPr>
            <a:lvl7pPr marL="4514484" indent="0" algn="ctr">
              <a:buNone/>
              <a:defRPr sz="2633"/>
            </a:lvl7pPr>
            <a:lvl8pPr marL="5266898" indent="0" algn="ctr">
              <a:buNone/>
              <a:defRPr sz="2633"/>
            </a:lvl8pPr>
            <a:lvl9pPr marL="6019312" indent="0" algn="ctr">
              <a:buNone/>
              <a:defRPr sz="2633"/>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35632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29973487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026707" y="5367078"/>
            <a:ext cx="12978825" cy="8955085"/>
          </a:xfrm>
        </p:spPr>
        <p:txBody>
          <a:bodyPr anchor="b"/>
          <a:lstStyle>
            <a:lvl1pPr>
              <a:defRPr sz="9874"/>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026707" y="14406882"/>
            <a:ext cx="12978825" cy="4709268"/>
          </a:xfrm>
        </p:spPr>
        <p:txBody>
          <a:bodyPr/>
          <a:lstStyle>
            <a:lvl1pPr marL="0" indent="0">
              <a:buNone/>
              <a:defRPr sz="3950">
                <a:solidFill>
                  <a:schemeClr val="tx1"/>
                </a:solidFill>
              </a:defRPr>
            </a:lvl1pPr>
            <a:lvl2pPr marL="752414" indent="0">
              <a:buNone/>
              <a:defRPr sz="3291">
                <a:solidFill>
                  <a:schemeClr val="tx1">
                    <a:tint val="75000"/>
                  </a:schemeClr>
                </a:solidFill>
              </a:defRPr>
            </a:lvl2pPr>
            <a:lvl3pPr marL="1504828" indent="0">
              <a:buNone/>
              <a:defRPr sz="2962">
                <a:solidFill>
                  <a:schemeClr val="tx1">
                    <a:tint val="75000"/>
                  </a:schemeClr>
                </a:solidFill>
              </a:defRPr>
            </a:lvl3pPr>
            <a:lvl4pPr marL="2257242" indent="0">
              <a:buNone/>
              <a:defRPr sz="2633">
                <a:solidFill>
                  <a:schemeClr val="tx1">
                    <a:tint val="75000"/>
                  </a:schemeClr>
                </a:solidFill>
              </a:defRPr>
            </a:lvl4pPr>
            <a:lvl5pPr marL="3009656" indent="0">
              <a:buNone/>
              <a:defRPr sz="2633">
                <a:solidFill>
                  <a:schemeClr val="tx1">
                    <a:tint val="75000"/>
                  </a:schemeClr>
                </a:solidFill>
              </a:defRPr>
            </a:lvl5pPr>
            <a:lvl6pPr marL="3762070" indent="0">
              <a:buNone/>
              <a:defRPr sz="2633">
                <a:solidFill>
                  <a:schemeClr val="tx1">
                    <a:tint val="75000"/>
                  </a:schemeClr>
                </a:solidFill>
              </a:defRPr>
            </a:lvl6pPr>
            <a:lvl7pPr marL="4514484" indent="0">
              <a:buNone/>
              <a:defRPr sz="2633">
                <a:solidFill>
                  <a:schemeClr val="tx1">
                    <a:tint val="75000"/>
                  </a:schemeClr>
                </a:solidFill>
              </a:defRPr>
            </a:lvl7pPr>
            <a:lvl8pPr marL="5266898" indent="0">
              <a:buNone/>
              <a:defRPr sz="2633">
                <a:solidFill>
                  <a:schemeClr val="tx1">
                    <a:tint val="75000"/>
                  </a:schemeClr>
                </a:solidFill>
              </a:defRPr>
            </a:lvl8pPr>
            <a:lvl9pPr marL="6019312" indent="0">
              <a:buNone/>
              <a:defRPr sz="2633">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20066069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034544" y="5730857"/>
            <a:ext cx="6395363" cy="1365937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7618006" y="5730857"/>
            <a:ext cx="6395363" cy="13659374"/>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1916274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036504" y="1146176"/>
            <a:ext cx="12978825" cy="4161102"/>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36505" y="5277373"/>
            <a:ext cx="6365972" cy="2586359"/>
          </a:xfrm>
        </p:spPr>
        <p:txBody>
          <a:bodyPr anchor="b"/>
          <a:lstStyle>
            <a:lvl1pPr marL="0" indent="0">
              <a:buNone/>
              <a:defRPr sz="3950" b="1"/>
            </a:lvl1pPr>
            <a:lvl2pPr marL="752414" indent="0">
              <a:buNone/>
              <a:defRPr sz="3291" b="1"/>
            </a:lvl2pPr>
            <a:lvl3pPr marL="1504828" indent="0">
              <a:buNone/>
              <a:defRPr sz="2962" b="1"/>
            </a:lvl3pPr>
            <a:lvl4pPr marL="2257242" indent="0">
              <a:buNone/>
              <a:defRPr sz="2633" b="1"/>
            </a:lvl4pPr>
            <a:lvl5pPr marL="3009656" indent="0">
              <a:buNone/>
              <a:defRPr sz="2633" b="1"/>
            </a:lvl5pPr>
            <a:lvl6pPr marL="3762070" indent="0">
              <a:buNone/>
              <a:defRPr sz="2633" b="1"/>
            </a:lvl6pPr>
            <a:lvl7pPr marL="4514484" indent="0">
              <a:buNone/>
              <a:defRPr sz="2633" b="1"/>
            </a:lvl7pPr>
            <a:lvl8pPr marL="5266898" indent="0">
              <a:buNone/>
              <a:defRPr sz="2633" b="1"/>
            </a:lvl8pPr>
            <a:lvl9pPr marL="6019312" indent="0">
              <a:buNone/>
              <a:defRPr sz="2633" b="1"/>
            </a:lvl9pPr>
          </a:lstStyle>
          <a:p>
            <a:pPr lvl="0"/>
            <a:r>
              <a:rPr lang="ja-JP" altLang="en-US"/>
              <a:t>マスター テキストの書式設定</a:t>
            </a:r>
          </a:p>
        </p:txBody>
      </p:sp>
      <p:sp>
        <p:nvSpPr>
          <p:cNvPr id="4" name="Content Placeholder 3"/>
          <p:cNvSpPr>
            <a:spLocks noGrp="1"/>
          </p:cNvSpPr>
          <p:nvPr>
            <p:ph sz="half" idx="2"/>
          </p:nvPr>
        </p:nvSpPr>
        <p:spPr>
          <a:xfrm>
            <a:off x="1036505" y="7863732"/>
            <a:ext cx="6365972" cy="115663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7618007" y="5277373"/>
            <a:ext cx="6397323" cy="2586359"/>
          </a:xfrm>
        </p:spPr>
        <p:txBody>
          <a:bodyPr anchor="b"/>
          <a:lstStyle>
            <a:lvl1pPr marL="0" indent="0">
              <a:buNone/>
              <a:defRPr sz="3950" b="1"/>
            </a:lvl1pPr>
            <a:lvl2pPr marL="752414" indent="0">
              <a:buNone/>
              <a:defRPr sz="3291" b="1"/>
            </a:lvl2pPr>
            <a:lvl3pPr marL="1504828" indent="0">
              <a:buNone/>
              <a:defRPr sz="2962" b="1"/>
            </a:lvl3pPr>
            <a:lvl4pPr marL="2257242" indent="0">
              <a:buNone/>
              <a:defRPr sz="2633" b="1"/>
            </a:lvl4pPr>
            <a:lvl5pPr marL="3009656" indent="0">
              <a:buNone/>
              <a:defRPr sz="2633" b="1"/>
            </a:lvl5pPr>
            <a:lvl6pPr marL="3762070" indent="0">
              <a:buNone/>
              <a:defRPr sz="2633" b="1"/>
            </a:lvl6pPr>
            <a:lvl7pPr marL="4514484" indent="0">
              <a:buNone/>
              <a:defRPr sz="2633" b="1"/>
            </a:lvl7pPr>
            <a:lvl8pPr marL="5266898" indent="0">
              <a:buNone/>
              <a:defRPr sz="2633" b="1"/>
            </a:lvl8pPr>
            <a:lvl9pPr marL="6019312" indent="0">
              <a:buNone/>
              <a:defRPr sz="2633" b="1"/>
            </a:lvl9pPr>
          </a:lstStyle>
          <a:p>
            <a:pPr lvl="0"/>
            <a:r>
              <a:rPr lang="ja-JP" altLang="en-US"/>
              <a:t>マスター テキストの書式設定</a:t>
            </a:r>
          </a:p>
        </p:txBody>
      </p:sp>
      <p:sp>
        <p:nvSpPr>
          <p:cNvPr id="6" name="Content Placeholder 5"/>
          <p:cNvSpPr>
            <a:spLocks noGrp="1"/>
          </p:cNvSpPr>
          <p:nvPr>
            <p:ph sz="quarter" idx="4"/>
          </p:nvPr>
        </p:nvSpPr>
        <p:spPr>
          <a:xfrm>
            <a:off x="7618007" y="7863732"/>
            <a:ext cx="6397323" cy="11566366"/>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5249191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9936003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38164606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036504" y="1435206"/>
            <a:ext cx="4853344" cy="5023221"/>
          </a:xfrm>
        </p:spPr>
        <p:txBody>
          <a:bodyPr anchor="b"/>
          <a:lstStyle>
            <a:lvl1pPr>
              <a:defRPr sz="5266"/>
            </a:lvl1pPr>
          </a:lstStyle>
          <a:p>
            <a:r>
              <a:rPr lang="ja-JP" altLang="en-US"/>
              <a:t>マスター タイトルの書式設定</a:t>
            </a:r>
            <a:endParaRPr lang="en-US" dirty="0"/>
          </a:p>
        </p:txBody>
      </p:sp>
      <p:sp>
        <p:nvSpPr>
          <p:cNvPr id="3" name="Content Placeholder 2"/>
          <p:cNvSpPr>
            <a:spLocks noGrp="1"/>
          </p:cNvSpPr>
          <p:nvPr>
            <p:ph idx="1"/>
          </p:nvPr>
        </p:nvSpPr>
        <p:spPr>
          <a:xfrm>
            <a:off x="6397323" y="3099651"/>
            <a:ext cx="7618006" cy="15298896"/>
          </a:xfrm>
        </p:spPr>
        <p:txBody>
          <a:bodyPr/>
          <a:lstStyle>
            <a:lvl1pPr>
              <a:defRPr sz="5266"/>
            </a:lvl1pPr>
            <a:lvl2pPr>
              <a:defRPr sz="4608"/>
            </a:lvl2pPr>
            <a:lvl3pPr>
              <a:defRPr sz="3950"/>
            </a:lvl3pPr>
            <a:lvl4pPr>
              <a:defRPr sz="3291"/>
            </a:lvl4pPr>
            <a:lvl5pPr>
              <a:defRPr sz="3291"/>
            </a:lvl5pPr>
            <a:lvl6pPr>
              <a:defRPr sz="3291"/>
            </a:lvl6pPr>
            <a:lvl7pPr>
              <a:defRPr sz="3291"/>
            </a:lvl7pPr>
            <a:lvl8pPr>
              <a:defRPr sz="3291"/>
            </a:lvl8pPr>
            <a:lvl9pPr>
              <a:defRPr sz="3291"/>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036504" y="6458426"/>
            <a:ext cx="4853344" cy="11965034"/>
          </a:xfrm>
        </p:spPr>
        <p:txBody>
          <a:bodyPr/>
          <a:lstStyle>
            <a:lvl1pPr marL="0" indent="0">
              <a:buNone/>
              <a:defRPr sz="2633"/>
            </a:lvl1pPr>
            <a:lvl2pPr marL="752414" indent="0">
              <a:buNone/>
              <a:defRPr sz="2304"/>
            </a:lvl2pPr>
            <a:lvl3pPr marL="1504828" indent="0">
              <a:buNone/>
              <a:defRPr sz="1975"/>
            </a:lvl3pPr>
            <a:lvl4pPr marL="2257242" indent="0">
              <a:buNone/>
              <a:defRPr sz="1646"/>
            </a:lvl4pPr>
            <a:lvl5pPr marL="3009656" indent="0">
              <a:buNone/>
              <a:defRPr sz="1646"/>
            </a:lvl5pPr>
            <a:lvl6pPr marL="3762070" indent="0">
              <a:buNone/>
              <a:defRPr sz="1646"/>
            </a:lvl6pPr>
            <a:lvl7pPr marL="4514484" indent="0">
              <a:buNone/>
              <a:defRPr sz="1646"/>
            </a:lvl7pPr>
            <a:lvl8pPr marL="5266898" indent="0">
              <a:buNone/>
              <a:defRPr sz="1646"/>
            </a:lvl8pPr>
            <a:lvl9pPr marL="6019312" indent="0">
              <a:buNone/>
              <a:defRPr sz="1646"/>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558369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036504" y="1435206"/>
            <a:ext cx="4853344" cy="5023221"/>
          </a:xfrm>
        </p:spPr>
        <p:txBody>
          <a:bodyPr anchor="b"/>
          <a:lstStyle>
            <a:lvl1pPr>
              <a:defRPr sz="5266"/>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6397323" y="3099651"/>
            <a:ext cx="7618006" cy="15298896"/>
          </a:xfrm>
        </p:spPr>
        <p:txBody>
          <a:bodyPr anchor="t"/>
          <a:lstStyle>
            <a:lvl1pPr marL="0" indent="0">
              <a:buNone/>
              <a:defRPr sz="5266"/>
            </a:lvl1pPr>
            <a:lvl2pPr marL="752414" indent="0">
              <a:buNone/>
              <a:defRPr sz="4608"/>
            </a:lvl2pPr>
            <a:lvl3pPr marL="1504828" indent="0">
              <a:buNone/>
              <a:defRPr sz="3950"/>
            </a:lvl3pPr>
            <a:lvl4pPr marL="2257242" indent="0">
              <a:buNone/>
              <a:defRPr sz="3291"/>
            </a:lvl4pPr>
            <a:lvl5pPr marL="3009656" indent="0">
              <a:buNone/>
              <a:defRPr sz="3291"/>
            </a:lvl5pPr>
            <a:lvl6pPr marL="3762070" indent="0">
              <a:buNone/>
              <a:defRPr sz="3291"/>
            </a:lvl6pPr>
            <a:lvl7pPr marL="4514484" indent="0">
              <a:buNone/>
              <a:defRPr sz="3291"/>
            </a:lvl7pPr>
            <a:lvl8pPr marL="5266898" indent="0">
              <a:buNone/>
              <a:defRPr sz="3291"/>
            </a:lvl8pPr>
            <a:lvl9pPr marL="6019312" indent="0">
              <a:buNone/>
              <a:defRPr sz="3291"/>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036504" y="6458426"/>
            <a:ext cx="4853344" cy="11965034"/>
          </a:xfrm>
        </p:spPr>
        <p:txBody>
          <a:bodyPr/>
          <a:lstStyle>
            <a:lvl1pPr marL="0" indent="0">
              <a:buNone/>
              <a:defRPr sz="2633"/>
            </a:lvl1pPr>
            <a:lvl2pPr marL="752414" indent="0">
              <a:buNone/>
              <a:defRPr sz="2304"/>
            </a:lvl2pPr>
            <a:lvl3pPr marL="1504828" indent="0">
              <a:buNone/>
              <a:defRPr sz="1975"/>
            </a:lvl3pPr>
            <a:lvl4pPr marL="2257242" indent="0">
              <a:buNone/>
              <a:defRPr sz="1646"/>
            </a:lvl4pPr>
            <a:lvl5pPr marL="3009656" indent="0">
              <a:buNone/>
              <a:defRPr sz="1646"/>
            </a:lvl5pPr>
            <a:lvl6pPr marL="3762070" indent="0">
              <a:buNone/>
              <a:defRPr sz="1646"/>
            </a:lvl6pPr>
            <a:lvl7pPr marL="4514484" indent="0">
              <a:buNone/>
              <a:defRPr sz="1646"/>
            </a:lvl7pPr>
            <a:lvl8pPr marL="5266898" indent="0">
              <a:buNone/>
              <a:defRPr sz="1646"/>
            </a:lvl8pPr>
            <a:lvl9pPr marL="6019312" indent="0">
              <a:buNone/>
              <a:defRPr sz="1646"/>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34467294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1480828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768664" y="1146172"/>
            <a:ext cx="3244706" cy="18244059"/>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034545" y="1146172"/>
            <a:ext cx="9546020" cy="18244059"/>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823501C8-EB71-47A6-BF27-67ED4E23CF73}" type="datetimeFigureOut">
              <a:rPr kumimoji="1" lang="ja-JP" altLang="en-US" smtClean="0"/>
              <a:t>2025/9/1</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933470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4544" y="1146176"/>
            <a:ext cx="12978825" cy="4161102"/>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034544" y="5730857"/>
            <a:ext cx="12978825" cy="13659374"/>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034544" y="19953353"/>
            <a:ext cx="3385780" cy="1146171"/>
          </a:xfrm>
          <a:prstGeom prst="rect">
            <a:avLst/>
          </a:prstGeom>
        </p:spPr>
        <p:txBody>
          <a:bodyPr vert="horz" lIns="91440" tIns="45720" rIns="91440" bIns="45720" rtlCol="0" anchor="ctr"/>
          <a:lstStyle>
            <a:lvl1pPr algn="l">
              <a:defRPr sz="1975">
                <a:solidFill>
                  <a:schemeClr val="tx1">
                    <a:tint val="75000"/>
                  </a:schemeClr>
                </a:solidFill>
              </a:defRPr>
            </a:lvl1pPr>
          </a:lstStyle>
          <a:p>
            <a:fld id="{823501C8-EB71-47A6-BF27-67ED4E23CF73}" type="datetimeFigureOut">
              <a:rPr kumimoji="1" lang="ja-JP" altLang="en-US" smtClean="0"/>
              <a:t>2025/9/1</a:t>
            </a:fld>
            <a:endParaRPr kumimoji="1" lang="ja-JP" altLang="en-US"/>
          </a:p>
        </p:txBody>
      </p:sp>
      <p:sp>
        <p:nvSpPr>
          <p:cNvPr id="5" name="Footer Placeholder 4"/>
          <p:cNvSpPr>
            <a:spLocks noGrp="1"/>
          </p:cNvSpPr>
          <p:nvPr>
            <p:ph type="ftr" sz="quarter" idx="3"/>
          </p:nvPr>
        </p:nvSpPr>
        <p:spPr>
          <a:xfrm>
            <a:off x="4984621" y="19953353"/>
            <a:ext cx="5078671" cy="1146171"/>
          </a:xfrm>
          <a:prstGeom prst="rect">
            <a:avLst/>
          </a:prstGeom>
        </p:spPr>
        <p:txBody>
          <a:bodyPr vert="horz" lIns="91440" tIns="45720" rIns="91440" bIns="45720" rtlCol="0" anchor="ctr"/>
          <a:lstStyle>
            <a:lvl1pPr algn="ctr">
              <a:defRPr sz="1975">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10627589" y="19953353"/>
            <a:ext cx="3385780" cy="1146171"/>
          </a:xfrm>
          <a:prstGeom prst="rect">
            <a:avLst/>
          </a:prstGeom>
        </p:spPr>
        <p:txBody>
          <a:bodyPr vert="horz" lIns="91440" tIns="45720" rIns="91440" bIns="45720" rtlCol="0" anchor="ctr"/>
          <a:lstStyle>
            <a:lvl1pPr algn="r">
              <a:defRPr sz="1975">
                <a:solidFill>
                  <a:schemeClr val="tx1">
                    <a:tint val="75000"/>
                  </a:schemeClr>
                </a:solidFill>
              </a:defRPr>
            </a:lvl1pPr>
          </a:lstStyle>
          <a:p>
            <a:fld id="{86E18490-BEB6-4BA9-BDC1-3E21DD777BDC}" type="slidenum">
              <a:rPr kumimoji="1" lang="ja-JP" altLang="en-US" smtClean="0"/>
              <a:t>‹#›</a:t>
            </a:fld>
            <a:endParaRPr kumimoji="1" lang="ja-JP" altLang="en-US"/>
          </a:p>
        </p:txBody>
      </p:sp>
    </p:spTree>
    <p:extLst>
      <p:ext uri="{BB962C8B-B14F-4D97-AF65-F5344CB8AC3E}">
        <p14:creationId xmlns:p14="http://schemas.microsoft.com/office/powerpoint/2010/main" val="93728807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1504828" rtl="0" eaLnBrk="1" latinLnBrk="0" hangingPunct="1">
        <a:lnSpc>
          <a:spcPct val="90000"/>
        </a:lnSpc>
        <a:spcBef>
          <a:spcPct val="0"/>
        </a:spcBef>
        <a:buNone/>
        <a:defRPr kumimoji="1" sz="7241" kern="1200">
          <a:solidFill>
            <a:schemeClr val="tx1"/>
          </a:solidFill>
          <a:latin typeface="+mj-lt"/>
          <a:ea typeface="+mj-ea"/>
          <a:cs typeface="+mj-cs"/>
        </a:defRPr>
      </a:lvl1pPr>
    </p:titleStyle>
    <p:bodyStyle>
      <a:lvl1pPr marL="376207" indent="-376207" algn="l" defTabSz="1504828" rtl="0" eaLnBrk="1" latinLnBrk="0" hangingPunct="1">
        <a:lnSpc>
          <a:spcPct val="90000"/>
        </a:lnSpc>
        <a:spcBef>
          <a:spcPts val="1646"/>
        </a:spcBef>
        <a:buFont typeface="Arial" panose="020B0604020202020204" pitchFamily="34" charset="0"/>
        <a:buChar char="•"/>
        <a:defRPr kumimoji="1" sz="4608" kern="1200">
          <a:solidFill>
            <a:schemeClr val="tx1"/>
          </a:solidFill>
          <a:latin typeface="+mn-lt"/>
          <a:ea typeface="+mn-ea"/>
          <a:cs typeface="+mn-cs"/>
        </a:defRPr>
      </a:lvl1pPr>
      <a:lvl2pPr marL="1128621" indent="-376207" algn="l" defTabSz="1504828" rtl="0" eaLnBrk="1" latinLnBrk="0" hangingPunct="1">
        <a:lnSpc>
          <a:spcPct val="90000"/>
        </a:lnSpc>
        <a:spcBef>
          <a:spcPts val="823"/>
        </a:spcBef>
        <a:buFont typeface="Arial" panose="020B0604020202020204" pitchFamily="34" charset="0"/>
        <a:buChar char="•"/>
        <a:defRPr kumimoji="1" sz="3950" kern="1200">
          <a:solidFill>
            <a:schemeClr val="tx1"/>
          </a:solidFill>
          <a:latin typeface="+mn-lt"/>
          <a:ea typeface="+mn-ea"/>
          <a:cs typeface="+mn-cs"/>
        </a:defRPr>
      </a:lvl2pPr>
      <a:lvl3pPr marL="1881035" indent="-376207" algn="l" defTabSz="1504828" rtl="0" eaLnBrk="1" latinLnBrk="0" hangingPunct="1">
        <a:lnSpc>
          <a:spcPct val="90000"/>
        </a:lnSpc>
        <a:spcBef>
          <a:spcPts val="823"/>
        </a:spcBef>
        <a:buFont typeface="Arial" panose="020B0604020202020204" pitchFamily="34" charset="0"/>
        <a:buChar char="•"/>
        <a:defRPr kumimoji="1" sz="3291" kern="1200">
          <a:solidFill>
            <a:schemeClr val="tx1"/>
          </a:solidFill>
          <a:latin typeface="+mn-lt"/>
          <a:ea typeface="+mn-ea"/>
          <a:cs typeface="+mn-cs"/>
        </a:defRPr>
      </a:lvl3pPr>
      <a:lvl4pPr marL="2633449" indent="-376207" algn="l" defTabSz="1504828" rtl="0" eaLnBrk="1" latinLnBrk="0" hangingPunct="1">
        <a:lnSpc>
          <a:spcPct val="90000"/>
        </a:lnSpc>
        <a:spcBef>
          <a:spcPts val="823"/>
        </a:spcBef>
        <a:buFont typeface="Arial" panose="020B0604020202020204" pitchFamily="34" charset="0"/>
        <a:buChar char="•"/>
        <a:defRPr kumimoji="1" sz="2962" kern="1200">
          <a:solidFill>
            <a:schemeClr val="tx1"/>
          </a:solidFill>
          <a:latin typeface="+mn-lt"/>
          <a:ea typeface="+mn-ea"/>
          <a:cs typeface="+mn-cs"/>
        </a:defRPr>
      </a:lvl4pPr>
      <a:lvl5pPr marL="3385863" indent="-376207" algn="l" defTabSz="1504828" rtl="0" eaLnBrk="1" latinLnBrk="0" hangingPunct="1">
        <a:lnSpc>
          <a:spcPct val="90000"/>
        </a:lnSpc>
        <a:spcBef>
          <a:spcPts val="823"/>
        </a:spcBef>
        <a:buFont typeface="Arial" panose="020B0604020202020204" pitchFamily="34" charset="0"/>
        <a:buChar char="•"/>
        <a:defRPr kumimoji="1" sz="2962" kern="1200">
          <a:solidFill>
            <a:schemeClr val="tx1"/>
          </a:solidFill>
          <a:latin typeface="+mn-lt"/>
          <a:ea typeface="+mn-ea"/>
          <a:cs typeface="+mn-cs"/>
        </a:defRPr>
      </a:lvl5pPr>
      <a:lvl6pPr marL="4138277" indent="-376207" algn="l" defTabSz="1504828" rtl="0" eaLnBrk="1" latinLnBrk="0" hangingPunct="1">
        <a:lnSpc>
          <a:spcPct val="90000"/>
        </a:lnSpc>
        <a:spcBef>
          <a:spcPts val="823"/>
        </a:spcBef>
        <a:buFont typeface="Arial" panose="020B0604020202020204" pitchFamily="34" charset="0"/>
        <a:buChar char="•"/>
        <a:defRPr kumimoji="1" sz="2962" kern="1200">
          <a:solidFill>
            <a:schemeClr val="tx1"/>
          </a:solidFill>
          <a:latin typeface="+mn-lt"/>
          <a:ea typeface="+mn-ea"/>
          <a:cs typeface="+mn-cs"/>
        </a:defRPr>
      </a:lvl6pPr>
      <a:lvl7pPr marL="4890691" indent="-376207" algn="l" defTabSz="1504828" rtl="0" eaLnBrk="1" latinLnBrk="0" hangingPunct="1">
        <a:lnSpc>
          <a:spcPct val="90000"/>
        </a:lnSpc>
        <a:spcBef>
          <a:spcPts val="823"/>
        </a:spcBef>
        <a:buFont typeface="Arial" panose="020B0604020202020204" pitchFamily="34" charset="0"/>
        <a:buChar char="•"/>
        <a:defRPr kumimoji="1" sz="2962" kern="1200">
          <a:solidFill>
            <a:schemeClr val="tx1"/>
          </a:solidFill>
          <a:latin typeface="+mn-lt"/>
          <a:ea typeface="+mn-ea"/>
          <a:cs typeface="+mn-cs"/>
        </a:defRPr>
      </a:lvl7pPr>
      <a:lvl8pPr marL="5643105" indent="-376207" algn="l" defTabSz="1504828" rtl="0" eaLnBrk="1" latinLnBrk="0" hangingPunct="1">
        <a:lnSpc>
          <a:spcPct val="90000"/>
        </a:lnSpc>
        <a:spcBef>
          <a:spcPts val="823"/>
        </a:spcBef>
        <a:buFont typeface="Arial" panose="020B0604020202020204" pitchFamily="34" charset="0"/>
        <a:buChar char="•"/>
        <a:defRPr kumimoji="1" sz="2962" kern="1200">
          <a:solidFill>
            <a:schemeClr val="tx1"/>
          </a:solidFill>
          <a:latin typeface="+mn-lt"/>
          <a:ea typeface="+mn-ea"/>
          <a:cs typeface="+mn-cs"/>
        </a:defRPr>
      </a:lvl8pPr>
      <a:lvl9pPr marL="6395519" indent="-376207" algn="l" defTabSz="1504828" rtl="0" eaLnBrk="1" latinLnBrk="0" hangingPunct="1">
        <a:lnSpc>
          <a:spcPct val="90000"/>
        </a:lnSpc>
        <a:spcBef>
          <a:spcPts val="823"/>
        </a:spcBef>
        <a:buFont typeface="Arial" panose="020B0604020202020204" pitchFamily="34" charset="0"/>
        <a:buChar char="•"/>
        <a:defRPr kumimoji="1" sz="2962" kern="1200">
          <a:solidFill>
            <a:schemeClr val="tx1"/>
          </a:solidFill>
          <a:latin typeface="+mn-lt"/>
          <a:ea typeface="+mn-ea"/>
          <a:cs typeface="+mn-cs"/>
        </a:defRPr>
      </a:lvl9pPr>
    </p:bodyStyle>
    <p:otherStyle>
      <a:defPPr>
        <a:defRPr lang="en-US"/>
      </a:defPPr>
      <a:lvl1pPr marL="0" algn="l" defTabSz="1504828" rtl="0" eaLnBrk="1" latinLnBrk="0" hangingPunct="1">
        <a:defRPr kumimoji="1" sz="2962" kern="1200">
          <a:solidFill>
            <a:schemeClr val="tx1"/>
          </a:solidFill>
          <a:latin typeface="+mn-lt"/>
          <a:ea typeface="+mn-ea"/>
          <a:cs typeface="+mn-cs"/>
        </a:defRPr>
      </a:lvl1pPr>
      <a:lvl2pPr marL="752414" algn="l" defTabSz="1504828" rtl="0" eaLnBrk="1" latinLnBrk="0" hangingPunct="1">
        <a:defRPr kumimoji="1" sz="2962" kern="1200">
          <a:solidFill>
            <a:schemeClr val="tx1"/>
          </a:solidFill>
          <a:latin typeface="+mn-lt"/>
          <a:ea typeface="+mn-ea"/>
          <a:cs typeface="+mn-cs"/>
        </a:defRPr>
      </a:lvl2pPr>
      <a:lvl3pPr marL="1504828" algn="l" defTabSz="1504828" rtl="0" eaLnBrk="1" latinLnBrk="0" hangingPunct="1">
        <a:defRPr kumimoji="1" sz="2962" kern="1200">
          <a:solidFill>
            <a:schemeClr val="tx1"/>
          </a:solidFill>
          <a:latin typeface="+mn-lt"/>
          <a:ea typeface="+mn-ea"/>
          <a:cs typeface="+mn-cs"/>
        </a:defRPr>
      </a:lvl3pPr>
      <a:lvl4pPr marL="2257242" algn="l" defTabSz="1504828" rtl="0" eaLnBrk="1" latinLnBrk="0" hangingPunct="1">
        <a:defRPr kumimoji="1" sz="2962" kern="1200">
          <a:solidFill>
            <a:schemeClr val="tx1"/>
          </a:solidFill>
          <a:latin typeface="+mn-lt"/>
          <a:ea typeface="+mn-ea"/>
          <a:cs typeface="+mn-cs"/>
        </a:defRPr>
      </a:lvl4pPr>
      <a:lvl5pPr marL="3009656" algn="l" defTabSz="1504828" rtl="0" eaLnBrk="1" latinLnBrk="0" hangingPunct="1">
        <a:defRPr kumimoji="1" sz="2962" kern="1200">
          <a:solidFill>
            <a:schemeClr val="tx1"/>
          </a:solidFill>
          <a:latin typeface="+mn-lt"/>
          <a:ea typeface="+mn-ea"/>
          <a:cs typeface="+mn-cs"/>
        </a:defRPr>
      </a:lvl5pPr>
      <a:lvl6pPr marL="3762070" algn="l" defTabSz="1504828" rtl="0" eaLnBrk="1" latinLnBrk="0" hangingPunct="1">
        <a:defRPr kumimoji="1" sz="2962" kern="1200">
          <a:solidFill>
            <a:schemeClr val="tx1"/>
          </a:solidFill>
          <a:latin typeface="+mn-lt"/>
          <a:ea typeface="+mn-ea"/>
          <a:cs typeface="+mn-cs"/>
        </a:defRPr>
      </a:lvl6pPr>
      <a:lvl7pPr marL="4514484" algn="l" defTabSz="1504828" rtl="0" eaLnBrk="1" latinLnBrk="0" hangingPunct="1">
        <a:defRPr kumimoji="1" sz="2962" kern="1200">
          <a:solidFill>
            <a:schemeClr val="tx1"/>
          </a:solidFill>
          <a:latin typeface="+mn-lt"/>
          <a:ea typeface="+mn-ea"/>
          <a:cs typeface="+mn-cs"/>
        </a:defRPr>
      </a:lvl7pPr>
      <a:lvl8pPr marL="5266898" algn="l" defTabSz="1504828" rtl="0" eaLnBrk="1" latinLnBrk="0" hangingPunct="1">
        <a:defRPr kumimoji="1" sz="2962" kern="1200">
          <a:solidFill>
            <a:schemeClr val="tx1"/>
          </a:solidFill>
          <a:latin typeface="+mn-lt"/>
          <a:ea typeface="+mn-ea"/>
          <a:cs typeface="+mn-cs"/>
        </a:defRPr>
      </a:lvl8pPr>
      <a:lvl9pPr marL="6019312" algn="l" defTabSz="1504828" rtl="0" eaLnBrk="1" latinLnBrk="0" hangingPunct="1">
        <a:defRPr kumimoji="1" sz="296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4">
            <a:extLst>
              <a:ext uri="{FF2B5EF4-FFF2-40B4-BE49-F238E27FC236}">
                <a16:creationId xmlns:a16="http://schemas.microsoft.com/office/drawing/2014/main" id="{2FCCF76A-B6AC-A541-9866-45CBBB8C112B}"/>
              </a:ext>
            </a:extLst>
          </p:cNvPr>
          <p:cNvSpPr/>
          <p:nvPr/>
        </p:nvSpPr>
        <p:spPr>
          <a:xfrm>
            <a:off x="-87" y="0"/>
            <a:ext cx="15048000" cy="21528088"/>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latin typeface="Meiryo UI" panose="020B0604030504040204" pitchFamily="50" charset="-128"/>
              <a:ea typeface="Meiryo UI" panose="020B0604030504040204" pitchFamily="50" charset="-128"/>
              <a:cs typeface="Calibri" panose="020F0502020204030204" pitchFamily="34" charset="0"/>
            </a:endParaRPr>
          </a:p>
        </p:txBody>
      </p:sp>
      <p:sp>
        <p:nvSpPr>
          <p:cNvPr id="4" name="四角形: 角を丸くする 3">
            <a:extLst>
              <a:ext uri="{FF2B5EF4-FFF2-40B4-BE49-F238E27FC236}">
                <a16:creationId xmlns:a16="http://schemas.microsoft.com/office/drawing/2014/main" id="{A0CA8840-4463-869C-7CCF-DB4A8B0E0AA8}"/>
              </a:ext>
            </a:extLst>
          </p:cNvPr>
          <p:cNvSpPr/>
          <p:nvPr/>
        </p:nvSpPr>
        <p:spPr>
          <a:xfrm>
            <a:off x="359956" y="425924"/>
            <a:ext cx="14328000" cy="20808000"/>
          </a:xfrm>
          <a:prstGeom prst="roundRect">
            <a:avLst>
              <a:gd name="adj" fmla="val 5499"/>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cs typeface="Calibri" panose="020F0502020204030204" pitchFamily="34" charset="0"/>
            </a:endParaRPr>
          </a:p>
        </p:txBody>
      </p:sp>
      <p:grpSp>
        <p:nvGrpSpPr>
          <p:cNvPr id="16" name="グループ化 15">
            <a:extLst>
              <a:ext uri="{FF2B5EF4-FFF2-40B4-BE49-F238E27FC236}">
                <a16:creationId xmlns:a16="http://schemas.microsoft.com/office/drawing/2014/main" id="{03B6CDAA-3C04-97F7-6082-6D97B49BCD41}"/>
              </a:ext>
            </a:extLst>
          </p:cNvPr>
          <p:cNvGrpSpPr/>
          <p:nvPr/>
        </p:nvGrpSpPr>
        <p:grpSpPr>
          <a:xfrm>
            <a:off x="523171" y="726030"/>
            <a:ext cx="13815922" cy="1988595"/>
            <a:chOff x="523171" y="726030"/>
            <a:chExt cx="13815922" cy="1988595"/>
          </a:xfrm>
        </p:grpSpPr>
        <p:pic>
          <p:nvPicPr>
            <p:cNvPr id="9" name="図 8">
              <a:extLst>
                <a:ext uri="{FF2B5EF4-FFF2-40B4-BE49-F238E27FC236}">
                  <a16:creationId xmlns:a16="http://schemas.microsoft.com/office/drawing/2014/main" id="{5F1A912C-86BA-501C-891A-4339081448C6}"/>
                </a:ext>
              </a:extLst>
            </p:cNvPr>
            <p:cNvPicPr>
              <a:picLocks noChangeAspect="1"/>
            </p:cNvPicPr>
            <p:nvPr/>
          </p:nvPicPr>
          <p:blipFill>
            <a:blip r:embed="rId3"/>
            <a:srcRect t="30138" b="30612"/>
            <a:stretch>
              <a:fillRect/>
            </a:stretch>
          </p:blipFill>
          <p:spPr>
            <a:xfrm>
              <a:off x="9990062" y="920115"/>
              <a:ext cx="3965612" cy="1554480"/>
            </a:xfrm>
            <a:prstGeom prst="rect">
              <a:avLst/>
            </a:prstGeom>
          </p:spPr>
        </p:pic>
        <p:cxnSp>
          <p:nvCxnSpPr>
            <p:cNvPr id="11" name="直線コネクタ 10">
              <a:extLst>
                <a:ext uri="{FF2B5EF4-FFF2-40B4-BE49-F238E27FC236}">
                  <a16:creationId xmlns:a16="http://schemas.microsoft.com/office/drawing/2014/main" id="{B35773CA-5FB5-C32D-1CFF-F5F654F4E792}"/>
                </a:ext>
              </a:extLst>
            </p:cNvPr>
            <p:cNvCxnSpPr/>
            <p:nvPr/>
          </p:nvCxnSpPr>
          <p:spPr>
            <a:xfrm>
              <a:off x="708818" y="2714625"/>
              <a:ext cx="13630275" cy="0"/>
            </a:xfrm>
            <a:prstGeom prst="line">
              <a:avLst/>
            </a:prstGeom>
            <a:ln w="76200">
              <a:solidFill>
                <a:srgbClr val="103838"/>
              </a:solidFill>
            </a:ln>
          </p:spPr>
          <p:style>
            <a:lnRef idx="1">
              <a:schemeClr val="dk1"/>
            </a:lnRef>
            <a:fillRef idx="0">
              <a:schemeClr val="dk1"/>
            </a:fillRef>
            <a:effectRef idx="0">
              <a:schemeClr val="dk1"/>
            </a:effectRef>
            <a:fontRef idx="minor">
              <a:schemeClr val="tx1"/>
            </a:fontRef>
          </p:style>
        </p:cxnSp>
        <p:sp>
          <p:nvSpPr>
            <p:cNvPr id="12" name="正方形/長方形 11">
              <a:extLst>
                <a:ext uri="{FF2B5EF4-FFF2-40B4-BE49-F238E27FC236}">
                  <a16:creationId xmlns:a16="http://schemas.microsoft.com/office/drawing/2014/main" id="{7F76DE3F-CBFB-D93D-E05B-62FEC10DA1A0}"/>
                </a:ext>
              </a:extLst>
            </p:cNvPr>
            <p:cNvSpPr/>
            <p:nvPr/>
          </p:nvSpPr>
          <p:spPr>
            <a:xfrm>
              <a:off x="523171" y="726030"/>
              <a:ext cx="9466891" cy="17712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0000" dirty="0">
                  <a:solidFill>
                    <a:srgbClr val="113939"/>
                  </a:solidFill>
                  <a:latin typeface="Calibri" panose="020F0502020204030204" pitchFamily="34" charset="0"/>
                  <a:ea typeface="Calibri" panose="020F0502020204030204" pitchFamily="34" charset="0"/>
                  <a:cs typeface="Calibri" panose="020F0502020204030204" pitchFamily="34" charset="0"/>
                </a:rPr>
                <a:t>KYES Trivia AI</a:t>
              </a:r>
              <a:endParaRPr kumimoji="1" lang="ja-JP" altLang="en-US" sz="10000" dirty="0">
                <a:solidFill>
                  <a:srgbClr val="113939"/>
                </a:solidFill>
                <a:latin typeface="Calibri" panose="020F0502020204030204" pitchFamily="34" charset="0"/>
                <a:ea typeface="Meiryo UI" panose="020B0604030504040204" pitchFamily="50" charset="-128"/>
                <a:cs typeface="Calibri" panose="020F0502020204030204" pitchFamily="34" charset="0"/>
              </a:endParaRPr>
            </a:p>
          </p:txBody>
        </p:sp>
      </p:grpSp>
      <p:grpSp>
        <p:nvGrpSpPr>
          <p:cNvPr id="3" name="グループ化 2">
            <a:extLst>
              <a:ext uri="{FF2B5EF4-FFF2-40B4-BE49-F238E27FC236}">
                <a16:creationId xmlns:a16="http://schemas.microsoft.com/office/drawing/2014/main" id="{284DE433-AF2C-C3BF-F45A-C262BB2C5D42}"/>
              </a:ext>
            </a:extLst>
          </p:cNvPr>
          <p:cNvGrpSpPr/>
          <p:nvPr/>
        </p:nvGrpSpPr>
        <p:grpSpPr>
          <a:xfrm>
            <a:off x="181868" y="2588896"/>
            <a:ext cx="14179500" cy="7926703"/>
            <a:chOff x="181868" y="2188846"/>
            <a:chExt cx="14179500" cy="7926703"/>
          </a:xfrm>
        </p:grpSpPr>
        <p:sp>
          <p:nvSpPr>
            <p:cNvPr id="17" name="四角形: 角を丸くする 16">
              <a:extLst>
                <a:ext uri="{FF2B5EF4-FFF2-40B4-BE49-F238E27FC236}">
                  <a16:creationId xmlns:a16="http://schemas.microsoft.com/office/drawing/2014/main" id="{E62056D7-3090-B144-CB07-7FACB976A027}"/>
                </a:ext>
              </a:extLst>
            </p:cNvPr>
            <p:cNvSpPr/>
            <p:nvPr/>
          </p:nvSpPr>
          <p:spPr>
            <a:xfrm>
              <a:off x="753368" y="2188846"/>
              <a:ext cx="13608000" cy="7926703"/>
            </a:xfrm>
            <a:prstGeom prst="round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を作ろうと思った理由は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3</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つあります。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まず一つ目は、僕の夢が大規模言語モデルを作ることだからです。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ChatGPT</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Gemini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のような大規模モデルは、莫大な費用やデータが必要です。そこで僕は、自由創作展では小さな言語モデルを作って挑戦してみようと思いました。</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次に二つ目は、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の仕組みを深く理解したいからです。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をただ使うのではなく、自分で作ることで、文章生成の仕組みやアルゴリズムを学ぶことができます。例えば、小さなモデルでも単語の出現のしかたや、文のつながりを学ぶことができるのです。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そして三つ目は、僕の通っている慶應義塾横浜初等部の豆知識を伝えたいからです。学校のことを</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Q&amp;A</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として</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に覚えさせれば、同じ学校に通う人にに楽しく紹介できます。例えば「給食の人気メニュー」や「校庭の特徴」を入れれば、面白い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になると思いました。</a:t>
              </a: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以上３つの理由が僕が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を作ろうと思ったきっかけです。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19" name="正方形/長方形 18">
              <a:extLst>
                <a:ext uri="{FF2B5EF4-FFF2-40B4-BE49-F238E27FC236}">
                  <a16:creationId xmlns:a16="http://schemas.microsoft.com/office/drawing/2014/main" id="{ECD49577-48FF-807D-E110-4B9C50A6E9B3}"/>
                </a:ext>
              </a:extLst>
            </p:cNvPr>
            <p:cNvSpPr/>
            <p:nvPr/>
          </p:nvSpPr>
          <p:spPr>
            <a:xfrm>
              <a:off x="181868" y="2588895"/>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作ろうと思ったきっかけ</a:t>
              </a:r>
            </a:p>
          </p:txBody>
        </p:sp>
      </p:grpSp>
      <p:cxnSp>
        <p:nvCxnSpPr>
          <p:cNvPr id="24" name="直線コネクタ 23">
            <a:extLst>
              <a:ext uri="{FF2B5EF4-FFF2-40B4-BE49-F238E27FC236}">
                <a16:creationId xmlns:a16="http://schemas.microsoft.com/office/drawing/2014/main" id="{2C910E72-C236-CD0F-9F55-C403BD385616}"/>
              </a:ext>
            </a:extLst>
          </p:cNvPr>
          <p:cNvCxnSpPr>
            <a:cxnSpLocks/>
          </p:cNvCxnSpPr>
          <p:nvPr/>
        </p:nvCxnSpPr>
        <p:spPr>
          <a:xfrm flipV="1">
            <a:off x="5295900" y="360044"/>
            <a:ext cx="0" cy="302896"/>
          </a:xfrm>
          <a:prstGeom prst="line">
            <a:avLst/>
          </a:prstGeom>
        </p:spPr>
        <p:style>
          <a:lnRef idx="1">
            <a:schemeClr val="accent1"/>
          </a:lnRef>
          <a:fillRef idx="0">
            <a:schemeClr val="accent1"/>
          </a:fillRef>
          <a:effectRef idx="0">
            <a:schemeClr val="accent1"/>
          </a:effectRef>
          <a:fontRef idx="minor">
            <a:schemeClr val="tx1"/>
          </a:fontRef>
        </p:style>
      </p:cxnSp>
      <p:sp>
        <p:nvSpPr>
          <p:cNvPr id="8" name="四角形: 角を丸くする 7">
            <a:extLst>
              <a:ext uri="{FF2B5EF4-FFF2-40B4-BE49-F238E27FC236}">
                <a16:creationId xmlns:a16="http://schemas.microsoft.com/office/drawing/2014/main" id="{2BA3D75E-8A0E-0634-5148-F6504B1D6CF3}"/>
              </a:ext>
            </a:extLst>
          </p:cNvPr>
          <p:cNvSpPr/>
          <p:nvPr/>
        </p:nvSpPr>
        <p:spPr>
          <a:xfrm>
            <a:off x="-14761694" y="7725955"/>
            <a:ext cx="9721057" cy="12399005"/>
          </a:xfrm>
          <a:prstGeom prst="roundRect">
            <a:avLst/>
          </a:prstGeom>
          <a:solidFill>
            <a:schemeClr val="bg1"/>
          </a:solidFill>
          <a:ln w="762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None/>
            </a:pPr>
            <a:r>
              <a:rPr lang="en-US" altLang="ja-JP" sz="2400" dirty="0">
                <a:solidFill>
                  <a:sysClr val="windowText" lastClr="000000"/>
                </a:solidFill>
                <a:latin typeface="Meiryo UI" panose="020B0604030504040204" pitchFamily="50" charset="-128"/>
                <a:ea typeface="Meiryo UI" panose="020B0604030504040204" pitchFamily="50" charset="-128"/>
              </a:rPr>
              <a:t>app.py - Web</a:t>
            </a:r>
            <a:r>
              <a:rPr lang="ja-JP" altLang="en-US" sz="2400" dirty="0">
                <a:solidFill>
                  <a:sysClr val="windowText" lastClr="000000"/>
                </a:solidFill>
                <a:latin typeface="Meiryo UI" panose="020B0604030504040204" pitchFamily="50" charset="-128"/>
                <a:ea typeface="Meiryo UI" panose="020B0604030504040204" pitchFamily="50" charset="-128"/>
              </a:rPr>
              <a:t>サーバー（アプリのおおもと）</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ログイン機能とチャット画面を提供</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質問応答の処理とログイン状態管理</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コンピュータの動作を軽くする機能</a:t>
            </a:r>
          </a:p>
          <a:p>
            <a:pPr>
              <a:buNone/>
            </a:pPr>
            <a:r>
              <a:rPr lang="en-US" altLang="ja-JP" sz="2400" dirty="0">
                <a:solidFill>
                  <a:sysClr val="windowText" lastClr="000000"/>
                </a:solidFill>
                <a:latin typeface="Meiryo UI" panose="020B0604030504040204" pitchFamily="50" charset="-128"/>
                <a:ea typeface="Meiryo UI" panose="020B0604030504040204" pitchFamily="50" charset="-128"/>
              </a:rPr>
              <a:t>kyes_trivia_analyzer.py - AI</a:t>
            </a:r>
            <a:r>
              <a:rPr lang="ja-JP" altLang="en-US" sz="2400" dirty="0">
                <a:solidFill>
                  <a:sysClr val="windowText" lastClr="000000"/>
                </a:solidFill>
                <a:latin typeface="Meiryo UI" panose="020B0604030504040204" pitchFamily="50" charset="-128"/>
                <a:ea typeface="Meiryo UI" panose="020B0604030504040204" pitchFamily="50" charset="-128"/>
              </a:rPr>
              <a:t>分析エンジン（人工知能）</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質問を人間の言葉として理解・解析</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利用者のレベルに合わせた回答生成</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新しい質問パターンの学習機能</a:t>
            </a:r>
          </a:p>
          <a:p>
            <a:pPr>
              <a:buNone/>
            </a:pPr>
            <a:r>
              <a:rPr lang="en-US" altLang="ja-JP" sz="2400" dirty="0" err="1">
                <a:solidFill>
                  <a:sysClr val="windowText" lastClr="000000"/>
                </a:solidFill>
                <a:latin typeface="Meiryo UI" panose="020B0604030504040204" pitchFamily="50" charset="-128"/>
                <a:ea typeface="Meiryo UI" panose="020B0604030504040204" pitchFamily="50" charset="-128"/>
              </a:rPr>
              <a:t>kyes_trivia_dataset.json</a:t>
            </a:r>
            <a:r>
              <a:rPr lang="en-US" altLang="ja-JP" sz="2400" dirty="0">
                <a:solidFill>
                  <a:sysClr val="windowText" lastClr="000000"/>
                </a:solidFill>
                <a:latin typeface="Meiryo UI" panose="020B0604030504040204" pitchFamily="50" charset="-128"/>
                <a:ea typeface="Meiryo UI" panose="020B0604030504040204" pitchFamily="50" charset="-128"/>
              </a:rPr>
              <a:t> - </a:t>
            </a:r>
            <a:r>
              <a:rPr lang="ja-JP" altLang="en-US" sz="2400" dirty="0">
                <a:solidFill>
                  <a:sysClr val="windowText" lastClr="000000"/>
                </a:solidFill>
                <a:latin typeface="Meiryo UI" panose="020B0604030504040204" pitchFamily="50" charset="-128"/>
                <a:ea typeface="Meiryo UI" panose="020B0604030504040204" pitchFamily="50" charset="-128"/>
              </a:rPr>
              <a:t>データベース（質問と回答のデータ）</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慶應義塾横浜初等部の質問・回答</a:t>
            </a:r>
            <a:r>
              <a:rPr lang="en-US" altLang="ja-JP" sz="2400" dirty="0">
                <a:solidFill>
                  <a:sysClr val="windowText" lastClr="000000"/>
                </a:solidFill>
                <a:latin typeface="Meiryo UI" panose="020B0604030504040204" pitchFamily="50" charset="-128"/>
                <a:ea typeface="Meiryo UI" panose="020B0604030504040204" pitchFamily="50" charset="-128"/>
              </a:rPr>
              <a:t>50</a:t>
            </a:r>
            <a:r>
              <a:rPr lang="ja-JP" altLang="en-US" sz="2400" dirty="0">
                <a:solidFill>
                  <a:sysClr val="windowText" lastClr="000000"/>
                </a:solidFill>
                <a:latin typeface="Meiryo UI" panose="020B0604030504040204" pitchFamily="50" charset="-128"/>
                <a:ea typeface="Meiryo UI" panose="020B0604030504040204" pitchFamily="50" charset="-128"/>
              </a:rPr>
              <a:t>個</a:t>
            </a:r>
          </a:p>
          <a:p>
            <a:pPr>
              <a:buNone/>
            </a:pPr>
            <a:r>
              <a:rPr lang="ja-JP" altLang="en-US" sz="2400" dirty="0">
                <a:solidFill>
                  <a:sysClr val="windowText" lastClr="000000"/>
                </a:solidFill>
                <a:latin typeface="Meiryo UI" panose="020B0604030504040204" pitchFamily="50" charset="-128"/>
                <a:ea typeface="Meiryo UI" panose="020B0604030504040204" pitchFamily="50" charset="-128"/>
              </a:rPr>
              <a:t>* ジャンル分けと検索用ラベル付け済み</a:t>
            </a:r>
          </a:p>
          <a:p>
            <a:pPr>
              <a:buNone/>
            </a:pPr>
            <a:r>
              <a:rPr lang="en-US" altLang="ja-JP" sz="2400" dirty="0">
                <a:solidFill>
                  <a:sysClr val="windowText" lastClr="000000"/>
                </a:solidFill>
                <a:latin typeface="Meiryo UI" panose="020B0604030504040204" pitchFamily="50" charset="-128"/>
                <a:ea typeface="Meiryo UI" panose="020B0604030504040204" pitchFamily="50" charset="-128"/>
              </a:rPr>
              <a:t>3</a:t>
            </a:r>
            <a:r>
              <a:rPr lang="ja-JP" altLang="en-US" sz="2400" dirty="0">
                <a:solidFill>
                  <a:sysClr val="windowText" lastClr="000000"/>
                </a:solidFill>
                <a:latin typeface="Meiryo UI" panose="020B0604030504040204" pitchFamily="50" charset="-128"/>
                <a:ea typeface="Meiryo UI" panose="020B0604030504040204" pitchFamily="50" charset="-128"/>
              </a:rPr>
              <a:t>つのファイルが連携して、慶應初等部に関する賢い質問応答システムを構築しています。</a:t>
            </a:r>
          </a:p>
        </p:txBody>
      </p:sp>
      <p:cxnSp>
        <p:nvCxnSpPr>
          <p:cNvPr id="18" name="直線コネクタ 17">
            <a:extLst>
              <a:ext uri="{FF2B5EF4-FFF2-40B4-BE49-F238E27FC236}">
                <a16:creationId xmlns:a16="http://schemas.microsoft.com/office/drawing/2014/main" id="{59BEF751-3B3E-07B2-A357-81B3EDEC5F9E}"/>
              </a:ext>
            </a:extLst>
          </p:cNvPr>
          <p:cNvCxnSpPr/>
          <p:nvPr/>
        </p:nvCxnSpPr>
        <p:spPr>
          <a:xfrm>
            <a:off x="753368" y="9556955"/>
            <a:ext cx="13202306" cy="0"/>
          </a:xfrm>
          <a:prstGeom prst="line">
            <a:avLst/>
          </a:prstGeom>
        </p:spPr>
        <p:style>
          <a:lnRef idx="1">
            <a:schemeClr val="dk1"/>
          </a:lnRef>
          <a:fillRef idx="0">
            <a:schemeClr val="dk1"/>
          </a:fillRef>
          <a:effectRef idx="0">
            <a:schemeClr val="dk1"/>
          </a:effectRef>
          <a:fontRef idx="minor">
            <a:schemeClr val="tx1"/>
          </a:fontRef>
        </p:style>
      </p:cxnSp>
      <p:cxnSp>
        <p:nvCxnSpPr>
          <p:cNvPr id="21" name="直線コネクタ 20">
            <a:extLst>
              <a:ext uri="{FF2B5EF4-FFF2-40B4-BE49-F238E27FC236}">
                <a16:creationId xmlns:a16="http://schemas.microsoft.com/office/drawing/2014/main" id="{25DCA17F-1091-454B-DC7C-F24A0FFEF1CB}"/>
              </a:ext>
            </a:extLst>
          </p:cNvPr>
          <p:cNvCxnSpPr>
            <a:cxnSpLocks/>
          </p:cNvCxnSpPr>
          <p:nvPr/>
        </p:nvCxnSpPr>
        <p:spPr>
          <a:xfrm flipH="1">
            <a:off x="7523913" y="9910916"/>
            <a:ext cx="33455" cy="11031794"/>
          </a:xfrm>
          <a:prstGeom prst="line">
            <a:avLst/>
          </a:prstGeom>
        </p:spPr>
        <p:style>
          <a:lnRef idx="1">
            <a:schemeClr val="dk1"/>
          </a:lnRef>
          <a:fillRef idx="0">
            <a:schemeClr val="dk1"/>
          </a:fillRef>
          <a:effectRef idx="0">
            <a:schemeClr val="dk1"/>
          </a:effectRef>
          <a:fontRef idx="minor">
            <a:schemeClr val="tx1"/>
          </a:fontRef>
        </p:style>
      </p:cxnSp>
      <p:sp>
        <p:nvSpPr>
          <p:cNvPr id="31" name="四角形: 角を丸くする 30">
            <a:extLst>
              <a:ext uri="{FF2B5EF4-FFF2-40B4-BE49-F238E27FC236}">
                <a16:creationId xmlns:a16="http://schemas.microsoft.com/office/drawing/2014/main" id="{D488EE72-48D6-B8E7-6AB3-27685A1A540D}"/>
              </a:ext>
            </a:extLst>
          </p:cNvPr>
          <p:cNvSpPr/>
          <p:nvPr/>
        </p:nvSpPr>
        <p:spPr>
          <a:xfrm>
            <a:off x="1032387" y="9910916"/>
            <a:ext cx="6098028" cy="11031790"/>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kumimoji="1" lang="en-US" altLang="ja-JP" sz="2800" dirty="0">
              <a:solidFill>
                <a:sysClr val="windowText" lastClr="000000"/>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D015CE64-7918-5F95-B97E-45F177558CC1}"/>
              </a:ext>
            </a:extLst>
          </p:cNvPr>
          <p:cNvSpPr/>
          <p:nvPr/>
        </p:nvSpPr>
        <p:spPr>
          <a:xfrm>
            <a:off x="324380" y="9920643"/>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アプリの使用方法</a:t>
            </a:r>
          </a:p>
        </p:txBody>
      </p:sp>
      <p:sp>
        <p:nvSpPr>
          <p:cNvPr id="34" name="正方形/長方形 33">
            <a:extLst>
              <a:ext uri="{FF2B5EF4-FFF2-40B4-BE49-F238E27FC236}">
                <a16:creationId xmlns:a16="http://schemas.microsoft.com/office/drawing/2014/main" id="{2B4E7D17-91D2-9256-5D49-DB7A7F61FBCF}"/>
              </a:ext>
            </a:extLst>
          </p:cNvPr>
          <p:cNvSpPr/>
          <p:nvPr/>
        </p:nvSpPr>
        <p:spPr>
          <a:xfrm>
            <a:off x="7557368" y="9910916"/>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主なプログラム</a:t>
            </a:r>
          </a:p>
        </p:txBody>
      </p:sp>
    </p:spTree>
    <p:extLst>
      <p:ext uri="{BB962C8B-B14F-4D97-AF65-F5344CB8AC3E}">
        <p14:creationId xmlns:p14="http://schemas.microsoft.com/office/powerpoint/2010/main" val="1588198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E1235976-B975-2DB8-4107-025CA205DB2A}"/>
              </a:ext>
            </a:extLst>
          </p:cNvPr>
          <p:cNvGrpSpPr/>
          <p:nvPr/>
        </p:nvGrpSpPr>
        <p:grpSpPr>
          <a:xfrm>
            <a:off x="181868" y="2588896"/>
            <a:ext cx="14179500" cy="7926703"/>
            <a:chOff x="181868" y="2188846"/>
            <a:chExt cx="14179500" cy="7926703"/>
          </a:xfrm>
        </p:grpSpPr>
        <p:sp>
          <p:nvSpPr>
            <p:cNvPr id="7" name="四角形: 角を丸くする 6">
              <a:extLst>
                <a:ext uri="{FF2B5EF4-FFF2-40B4-BE49-F238E27FC236}">
                  <a16:creationId xmlns:a16="http://schemas.microsoft.com/office/drawing/2014/main" id="{772A3FDA-29E0-0E4C-A316-0C4EAB0A2D56}"/>
                </a:ext>
              </a:extLst>
            </p:cNvPr>
            <p:cNvSpPr/>
            <p:nvPr/>
          </p:nvSpPr>
          <p:spPr>
            <a:xfrm>
              <a:off x="753368" y="2188846"/>
              <a:ext cx="13608000" cy="7926703"/>
            </a:xfrm>
            <a:prstGeom prst="round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を作ろうと思った理由は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3</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つあります。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まず一つ目は、僕の夢が大規模言語モデルを作ることだからです。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ChatGPT</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Gemini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のような大規模モデルは、莫大な費用やデータが必要です。そこで僕は、自由創作展では小さな言語モデルを作って挑戦してみようと思いました。</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次に二つ目は、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の仕組みを深く理解したいからです。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をただ使うのではなく、自分で作ることで、文章生成の仕組みやアルゴリズムを学ぶことができます。例えば、小さなモデルでも単語の出現のしかたや、文のつながりを学ぶことができるのです。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そして三つ目は、僕の通っている慶應義塾横浜初等部の豆知識を伝えたいからです。学校のことを</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Q&amp;A</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として</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に覚えさせれば、同じ学校に通う人にに楽しく紹介できます。例えば「給食の人気メニュー」や「校庭の特徴」を入れれば、面白い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になると思いました。</a:t>
              </a: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以上３つの理由が僕が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を作ろうと思ったきっかけです。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8" name="正方形/長方形 7">
              <a:extLst>
                <a:ext uri="{FF2B5EF4-FFF2-40B4-BE49-F238E27FC236}">
                  <a16:creationId xmlns:a16="http://schemas.microsoft.com/office/drawing/2014/main" id="{978BF762-A476-4408-9190-05F443751C43}"/>
                </a:ext>
              </a:extLst>
            </p:cNvPr>
            <p:cNvSpPr/>
            <p:nvPr/>
          </p:nvSpPr>
          <p:spPr>
            <a:xfrm>
              <a:off x="181868" y="2588895"/>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作ろうと思ったきっかけ</a:t>
              </a:r>
            </a:p>
          </p:txBody>
        </p:sp>
      </p:grpSp>
    </p:spTree>
    <p:extLst>
      <p:ext uri="{BB962C8B-B14F-4D97-AF65-F5344CB8AC3E}">
        <p14:creationId xmlns:p14="http://schemas.microsoft.com/office/powerpoint/2010/main" val="21062970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A8FC80-3A9A-AD61-CC68-151BEFE5A4F2}"/>
            </a:ext>
          </a:extLst>
        </p:cNvPr>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B9F42453-20FC-EEE8-5214-6041B15CE654}"/>
              </a:ext>
            </a:extLst>
          </p:cNvPr>
          <p:cNvGrpSpPr/>
          <p:nvPr/>
        </p:nvGrpSpPr>
        <p:grpSpPr>
          <a:xfrm>
            <a:off x="181868" y="2588896"/>
            <a:ext cx="14179500" cy="7926703"/>
            <a:chOff x="181868" y="2188846"/>
            <a:chExt cx="14179500" cy="7926703"/>
          </a:xfrm>
        </p:grpSpPr>
        <p:sp>
          <p:nvSpPr>
            <p:cNvPr id="7" name="四角形: 角を丸くする 6">
              <a:extLst>
                <a:ext uri="{FF2B5EF4-FFF2-40B4-BE49-F238E27FC236}">
                  <a16:creationId xmlns:a16="http://schemas.microsoft.com/office/drawing/2014/main" id="{30BA2AA4-E82D-E20E-CB06-59299610BBD1}"/>
                </a:ext>
              </a:extLst>
            </p:cNvPr>
            <p:cNvSpPr/>
            <p:nvPr/>
          </p:nvSpPr>
          <p:spPr>
            <a:xfrm>
              <a:off x="753368" y="2188846"/>
              <a:ext cx="13608000" cy="7926703"/>
            </a:xfrm>
            <a:prstGeom prst="round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を作ろうと思った理由は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3</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つあります。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まず一つ目は、僕の夢が大規模言語モデルを作ることだからです。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ChatGPT</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Gemini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のような大規模モデルは、莫大な費用やデータが必要です。そこで僕は、自由創作展では小さな言語モデルを作って挑戦してみようと思いました。</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次に二つ目は、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の仕組みを深く理解したいからです。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をただ使うのではなく、自分で作ることで、文章生成の仕組みやアルゴリズムを学ぶことができます。例えば、小さなモデルでも単語の出現のしかたや、文のつながりを学ぶことができるのです。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そして三つ目は、僕の通っている慶應義塾横浜初等部の豆知識を伝えたいからです。学校のことを</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Q&amp;A</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として</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に覚えさせれば、同じ学校に通う人にに楽しく紹介できます。例えば「給食の人気メニュー」や「校庭の特徴」を入れれば、面白い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になると思いました。</a:t>
              </a: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以上３つの理由が僕が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を作ろうと思ったきっかけです。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8" name="正方形/長方形 7">
              <a:extLst>
                <a:ext uri="{FF2B5EF4-FFF2-40B4-BE49-F238E27FC236}">
                  <a16:creationId xmlns:a16="http://schemas.microsoft.com/office/drawing/2014/main" id="{3EC44D27-DA55-EB10-5C13-CC7ED9FBD7B8}"/>
                </a:ext>
              </a:extLst>
            </p:cNvPr>
            <p:cNvSpPr/>
            <p:nvPr/>
          </p:nvSpPr>
          <p:spPr>
            <a:xfrm>
              <a:off x="181868" y="2588895"/>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何を作ったのか</a:t>
              </a:r>
            </a:p>
          </p:txBody>
        </p:sp>
      </p:grpSp>
    </p:spTree>
    <p:extLst>
      <p:ext uri="{BB962C8B-B14F-4D97-AF65-F5344CB8AC3E}">
        <p14:creationId xmlns:p14="http://schemas.microsoft.com/office/powerpoint/2010/main" val="4307355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EDAC8-74E5-C3B4-2AC0-ADB94234AC26}"/>
            </a:ext>
          </a:extLst>
        </p:cNvPr>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0C853B0C-5B43-0C95-AC8F-7F411CEF21D2}"/>
              </a:ext>
            </a:extLst>
          </p:cNvPr>
          <p:cNvGrpSpPr/>
          <p:nvPr/>
        </p:nvGrpSpPr>
        <p:grpSpPr>
          <a:xfrm>
            <a:off x="181868" y="2588896"/>
            <a:ext cx="14179500" cy="7926703"/>
            <a:chOff x="181868" y="2188846"/>
            <a:chExt cx="14179500" cy="7926703"/>
          </a:xfrm>
        </p:grpSpPr>
        <p:sp>
          <p:nvSpPr>
            <p:cNvPr id="7" name="四角形: 角を丸くする 6">
              <a:extLst>
                <a:ext uri="{FF2B5EF4-FFF2-40B4-BE49-F238E27FC236}">
                  <a16:creationId xmlns:a16="http://schemas.microsoft.com/office/drawing/2014/main" id="{F8E4ECA6-F720-659B-153A-B63C3E162171}"/>
                </a:ext>
              </a:extLst>
            </p:cNvPr>
            <p:cNvSpPr/>
            <p:nvPr/>
          </p:nvSpPr>
          <p:spPr>
            <a:xfrm>
              <a:off x="753368" y="2188846"/>
              <a:ext cx="13608000" cy="7926703"/>
            </a:xfrm>
            <a:prstGeom prst="round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を作ろうと思った理由は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3</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つあります。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まず一つ目は、僕の夢が大規模言語モデルを作ることだからです。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ChatGPT</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Gemini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のような大規模モデルは、莫大な費用やデータが必要です。そこで僕は、自由創作展では小さな言語モデルを作って挑戦してみようと思いました。</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次に二つ目は、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の仕組みを深く理解したいからです。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をただ使うのではなく、自分で作ることで、文章生成の仕組みやアルゴリズムを学ぶことができます。例えば、小さなモデルでも単語の出現のしかたや、文のつながりを学ぶことができるのです。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そして三つ目は、僕の通っている慶應義塾横浜初等部の豆知識を伝えたいからです。学校のことを</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Q&amp;A</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として</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に覚えさせれば、同じ学校に通う人にに楽しく紹介できます。例えば「給食の人気メニュー」や「校庭の特徴」を入れれば、面白い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になると思いました。</a:t>
              </a: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以上３つの理由が僕が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を作ろうと思ったきっかけです。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8" name="正方形/長方形 7">
              <a:extLst>
                <a:ext uri="{FF2B5EF4-FFF2-40B4-BE49-F238E27FC236}">
                  <a16:creationId xmlns:a16="http://schemas.microsoft.com/office/drawing/2014/main" id="{2831A814-D964-60FB-6834-2E1856D613CC}"/>
                </a:ext>
              </a:extLst>
            </p:cNvPr>
            <p:cNvSpPr/>
            <p:nvPr/>
          </p:nvSpPr>
          <p:spPr>
            <a:xfrm>
              <a:off x="181868" y="2588895"/>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作ろうと思ったきっかけ</a:t>
              </a:r>
            </a:p>
          </p:txBody>
        </p:sp>
      </p:grpSp>
    </p:spTree>
    <p:extLst>
      <p:ext uri="{BB962C8B-B14F-4D97-AF65-F5344CB8AC3E}">
        <p14:creationId xmlns:p14="http://schemas.microsoft.com/office/powerpoint/2010/main" val="29561204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75197-88F3-2FAA-5300-AC4E8614340D}"/>
            </a:ext>
          </a:extLst>
        </p:cNvPr>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E17CCBFC-7989-63FC-7EB1-739EDA4E38F4}"/>
              </a:ext>
            </a:extLst>
          </p:cNvPr>
          <p:cNvGrpSpPr/>
          <p:nvPr/>
        </p:nvGrpSpPr>
        <p:grpSpPr>
          <a:xfrm>
            <a:off x="181868" y="2588896"/>
            <a:ext cx="14179500" cy="7926703"/>
            <a:chOff x="181868" y="2188846"/>
            <a:chExt cx="14179500" cy="7926703"/>
          </a:xfrm>
        </p:grpSpPr>
        <p:sp>
          <p:nvSpPr>
            <p:cNvPr id="7" name="四角形: 角を丸くする 6">
              <a:extLst>
                <a:ext uri="{FF2B5EF4-FFF2-40B4-BE49-F238E27FC236}">
                  <a16:creationId xmlns:a16="http://schemas.microsoft.com/office/drawing/2014/main" id="{294EFF21-7651-D9DF-6FD6-BB34E240A5FF}"/>
                </a:ext>
              </a:extLst>
            </p:cNvPr>
            <p:cNvSpPr/>
            <p:nvPr/>
          </p:nvSpPr>
          <p:spPr>
            <a:xfrm>
              <a:off x="753368" y="2188846"/>
              <a:ext cx="13608000" cy="7926703"/>
            </a:xfrm>
            <a:prstGeom prst="round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を作ろうと思った理由は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3</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つあります。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まず一つ目は、僕の夢が大規模言語モデルを作ることだからです。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ChatGPT</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Gemini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のような大規模モデルは、莫大な費用やデータが必要です。そこで僕は、自由創作展では小さな言語モデルを作って挑戦してみようと思いました。</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次に二つ目は、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の仕組みを深く理解したいからです。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をただ使うのではなく、自分で作ることで、文章生成の仕組みやアルゴリズムを学ぶことができます。例えば、小さなモデルでも単語の出現のしかたや、文のつながりを学ぶことができるのです。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そして三つ目は、僕の通っている慶應義塾横浜初等部の豆知識を伝えたいからです。学校のことを</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Q&amp;A</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として</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に覚えさせれば、同じ学校に通う人にに楽しく紹介できます。例えば「給食の人気メニュー」や「校庭の特徴」を入れれば、面白い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になると思いました。</a:t>
              </a: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以上３つの理由が僕が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を作ろうと思ったきっかけです。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8" name="正方形/長方形 7">
              <a:extLst>
                <a:ext uri="{FF2B5EF4-FFF2-40B4-BE49-F238E27FC236}">
                  <a16:creationId xmlns:a16="http://schemas.microsoft.com/office/drawing/2014/main" id="{F1C0FE42-9FD3-06EA-6FCA-38541558022F}"/>
                </a:ext>
              </a:extLst>
            </p:cNvPr>
            <p:cNvSpPr/>
            <p:nvPr/>
          </p:nvSpPr>
          <p:spPr>
            <a:xfrm>
              <a:off x="181868" y="2588895"/>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作ろうと思ったきっかけ</a:t>
              </a:r>
            </a:p>
          </p:txBody>
        </p:sp>
      </p:grpSp>
    </p:spTree>
    <p:extLst>
      <p:ext uri="{BB962C8B-B14F-4D97-AF65-F5344CB8AC3E}">
        <p14:creationId xmlns:p14="http://schemas.microsoft.com/office/powerpoint/2010/main" val="820678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08FE0-7F71-EFD7-DE38-FFFD3325A14A}"/>
            </a:ext>
          </a:extLst>
        </p:cNvPr>
        <p:cNvGrpSpPr/>
        <p:nvPr/>
      </p:nvGrpSpPr>
      <p:grpSpPr>
        <a:xfrm>
          <a:off x="0" y="0"/>
          <a:ext cx="0" cy="0"/>
          <a:chOff x="0" y="0"/>
          <a:chExt cx="0" cy="0"/>
        </a:xfrm>
      </p:grpSpPr>
      <p:grpSp>
        <p:nvGrpSpPr>
          <p:cNvPr id="6" name="グループ化 5">
            <a:extLst>
              <a:ext uri="{FF2B5EF4-FFF2-40B4-BE49-F238E27FC236}">
                <a16:creationId xmlns:a16="http://schemas.microsoft.com/office/drawing/2014/main" id="{0E6A16D0-F9C6-B97E-7AC9-0CF853DBE916}"/>
              </a:ext>
            </a:extLst>
          </p:cNvPr>
          <p:cNvGrpSpPr/>
          <p:nvPr/>
        </p:nvGrpSpPr>
        <p:grpSpPr>
          <a:xfrm>
            <a:off x="181868" y="2588896"/>
            <a:ext cx="14179500" cy="7926703"/>
            <a:chOff x="181868" y="2188846"/>
            <a:chExt cx="14179500" cy="7926703"/>
          </a:xfrm>
        </p:grpSpPr>
        <p:sp>
          <p:nvSpPr>
            <p:cNvPr id="7" name="四角形: 角を丸くする 6">
              <a:extLst>
                <a:ext uri="{FF2B5EF4-FFF2-40B4-BE49-F238E27FC236}">
                  <a16:creationId xmlns:a16="http://schemas.microsoft.com/office/drawing/2014/main" id="{BE695BE2-83C8-0B84-B6A3-F1C282932AED}"/>
                </a:ext>
              </a:extLst>
            </p:cNvPr>
            <p:cNvSpPr/>
            <p:nvPr/>
          </p:nvSpPr>
          <p:spPr>
            <a:xfrm>
              <a:off x="753368" y="2188846"/>
              <a:ext cx="13608000" cy="7926703"/>
            </a:xfrm>
            <a:prstGeom prst="round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を作ろうと思った理由は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3</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つあります。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まず一つ目は、僕の夢が大規模言語モデルを作ることだからです。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ChatGPT</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Gemini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のような大規模モデルは、莫大な費用やデータが必要です。そこで僕は、自由創作展では小さな言語モデルを作って挑戦してみようと思いました。</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次に二つ目は、</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の仕組みを深く理解したいからです。</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をただ使うのではなく、自分で作ることで、文章生成の仕組みやアルゴリズムを学ぶことができます。例えば、小さなモデルでも単語の出現のしかたや、文のつながりを学ぶことができるのです。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a:p>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そして三つ目は、僕の通っている慶應義塾横浜初等部の豆知識を伝えたいからです。学校のことを</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Q&amp;A</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として</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に覚えさせれば、同じ学校に通う人にに楽しく紹介できます。例えば「給食の人気メニュー」や「校庭の特徴」を入れれば、面白い</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になると思いました。</a:t>
              </a: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b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b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以上３つの理由が僕が</a:t>
              </a:r>
              <a:r>
                <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AI</a:t>
              </a:r>
              <a:r>
                <a:rPr kumimoji="1" lang="ja-JP" altLang="en-US" sz="2400" dirty="0">
                  <a:solidFill>
                    <a:schemeClr val="tx1"/>
                  </a:solidFill>
                  <a:latin typeface="Meiryo UI" panose="020B0604030504040204" pitchFamily="50" charset="-128"/>
                  <a:ea typeface="Meiryo UI" panose="020B0604030504040204" pitchFamily="50" charset="-128"/>
                  <a:cs typeface="Calibri" panose="020F0502020204030204" pitchFamily="34" charset="0"/>
                </a:rPr>
                <a:t>を作ろうと思ったきっかけです。</a:t>
              </a:r>
              <a:endParaRPr kumimoji="1" lang="en-US" altLang="ja-JP" sz="2400" dirty="0">
                <a:solidFill>
                  <a:schemeClr val="tx1"/>
                </a:solidFill>
                <a:latin typeface="Meiryo UI" panose="020B0604030504040204" pitchFamily="50" charset="-128"/>
                <a:ea typeface="Meiryo UI" panose="020B0604030504040204" pitchFamily="50" charset="-128"/>
                <a:cs typeface="Calibri" panose="020F0502020204030204" pitchFamily="34" charset="0"/>
              </a:endParaRPr>
            </a:p>
          </p:txBody>
        </p:sp>
        <p:sp>
          <p:nvSpPr>
            <p:cNvPr id="8" name="正方形/長方形 7">
              <a:extLst>
                <a:ext uri="{FF2B5EF4-FFF2-40B4-BE49-F238E27FC236}">
                  <a16:creationId xmlns:a16="http://schemas.microsoft.com/office/drawing/2014/main" id="{AC374B70-FE4B-C3F9-F625-CB14DDB51C46}"/>
                </a:ext>
              </a:extLst>
            </p:cNvPr>
            <p:cNvSpPr/>
            <p:nvPr/>
          </p:nvSpPr>
          <p:spPr>
            <a:xfrm>
              <a:off x="181868" y="2588895"/>
              <a:ext cx="5838175" cy="948916"/>
            </a:xfrm>
            <a:prstGeom prst="rect">
              <a:avLst/>
            </a:prstGeom>
            <a:noFill/>
            <a:ln w="762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3200" dirty="0">
                  <a:solidFill>
                    <a:schemeClr val="tx1"/>
                  </a:solidFill>
                  <a:latin typeface="Meiryo UI" panose="020B0604030504040204" pitchFamily="50" charset="-128"/>
                  <a:ea typeface="Meiryo UI" panose="020B0604030504040204" pitchFamily="50" charset="-128"/>
                  <a:cs typeface="Calibri" panose="020F0502020204030204" pitchFamily="34" charset="0"/>
                </a:rPr>
                <a:t>作ろうと思ったきっかけ</a:t>
              </a:r>
            </a:p>
          </p:txBody>
        </p:sp>
      </p:grpSp>
    </p:spTree>
    <p:extLst>
      <p:ext uri="{BB962C8B-B14F-4D97-AF65-F5344CB8AC3E}">
        <p14:creationId xmlns:p14="http://schemas.microsoft.com/office/powerpoint/2010/main" val="2211569524"/>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1769</TotalTime>
  <Words>2622</Words>
  <Application>Microsoft Office PowerPoint</Application>
  <PresentationFormat>ユーザー設定</PresentationFormat>
  <Paragraphs>64</Paragraphs>
  <Slides>6</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6</vt:i4>
      </vt:variant>
    </vt:vector>
  </HeadingPairs>
  <TitlesOfParts>
    <vt:vector size="12" baseType="lpstr">
      <vt:lpstr>Meiryo UI</vt:lpstr>
      <vt:lpstr>游ゴシック</vt:lpstr>
      <vt:lpstr>Arial</vt:lpstr>
      <vt:lpstr>Calibri</vt:lpstr>
      <vt:lpstr>Calibri Light</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Hideki Mogi</dc:creator>
  <cp:lastModifiedBy>Hideki Mogi</cp:lastModifiedBy>
  <cp:revision>6</cp:revision>
  <dcterms:created xsi:type="dcterms:W3CDTF">2025-08-11T08:13:28Z</dcterms:created>
  <dcterms:modified xsi:type="dcterms:W3CDTF">2025-09-01T00:49:42Z</dcterms:modified>
</cp:coreProperties>
</file>